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8FBE52-2630-4D76-9ADB-0E59454238CC}" v="2" dt="2026-08-13T15:59:19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shitij Kejriwal" userId="1174f1dbf53aa3ba" providerId="LiveId" clId="{965B4C64-8A30-4A8E-989E-058A40A90358}"/>
    <pc:docChg chg="addSld delSld modSld">
      <pc:chgData name="Kshitij Kejriwal" userId="1174f1dbf53aa3ba" providerId="LiveId" clId="{965B4C64-8A30-4A8E-989E-058A40A90358}" dt="2026-08-13T15:59:19.798" v="1"/>
      <pc:docMkLst>
        <pc:docMk/>
      </pc:docMkLst>
      <pc:sldChg chg="add del">
        <pc:chgData name="Kshitij Kejriwal" userId="1174f1dbf53aa3ba" providerId="LiveId" clId="{965B4C64-8A30-4A8E-989E-058A40A90358}" dt="2026-08-13T15:59:19.798" v="1"/>
        <pc:sldMkLst>
          <pc:docMk/>
          <pc:sldMk cId="0" sldId="282"/>
        </pc:sldMkLst>
      </pc:sldChg>
      <pc:sldChg chg="add del">
        <pc:chgData name="Kshitij Kejriwal" userId="1174f1dbf53aa3ba" providerId="LiveId" clId="{965B4C64-8A30-4A8E-989E-058A40A90358}" dt="2026-08-13T15:59:19.798" v="1"/>
        <pc:sldMkLst>
          <pc:docMk/>
          <pc:sldMk cId="0" sldId="28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84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EVALUATING MULTI-AGENT COORDINATION STRATEGIES FOR LLM-BASED TASK SOLVING</a:t>
            </a:r>
          </a:p>
          <a:p>
            <a:pPr>
              <a:spcBef>
                <a:spcPts val="1000"/>
              </a:spcBef>
              <a:defRPr sz="1800">
                <a:solidFill>
                  <a:srgbClr val="38BDF8"/>
                </a:solidFill>
              </a:defRPr>
            </a:pPr>
            <a:r>
              <a:t>MCA Technical Seminar Presentation</a:t>
            </a:r>
          </a:p>
          <a:p>
            <a:br/>
            <a:r>
              <a:t>Presenter: Kshitij Patil (MCA Candidate)</a:t>
            </a:r>
            <a:br/>
            <a:r>
              <a:t>Department of Computer Applications</a:t>
            </a:r>
            <a:br/>
            <a:r>
              <a:t>Veermata Jijabai Technological Institute (VJTI), Mumbai</a:t>
            </a:r>
            <a:br/>
            <a:r>
              <a:t>Academic Year: 2025–2026</a:t>
            </a:r>
            <a:br/>
            <a:r>
              <a:t>Faculty Guide / Seminar Coordinator: MCA Department Faculty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1.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Introduction: Evolution of LLM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From Single Prompt to Agentic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Single-turn LLMs are constrained by single context windows.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LLM Agents introduce autonomous reasoning, tool use, and multi-step execution loops.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Multi-Agent Systems decompose complex tasks across specialized agent roles.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Collective Intelligence: Multiple agents collaborate, critique, and synthesize solutions.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The Core Coordination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Adding more agents increases communication links and token usage.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Hierarchical vs Sequential vs Mesh topologies exhibit different bottleneck profiles.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Goal: Scientifically quantify how coordination architecture impacts task score, latency, and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1. 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Motivation: The Multi-Agent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Specialization &amp;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Decomposing complex tasks into distinct roles (Planner, Analyst, Critic, Finalizer) improves thoroughness.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Verification Loops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Multi-agent review catches errors that single-pass LLM calls miss.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63040"/>
            <a:ext cx="3383280" cy="3200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Overhead &amp; Token Explosion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031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Every message passing step consumes API tokens and adds network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Central Research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"Does adding more agents actually improve task solving, or does it primarily add latency and cost?"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PROBLEM &amp;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Research Problem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</a:defRPr>
            </a:pPr>
            <a:r>
              <a:t>Different multi-agent systems employ diverse communication topologies (Single, Star, Chain, Tree, Graph).</a:t>
            </a:r>
          </a:p>
          <a:p>
            <a:pPr>
              <a:spcAft>
                <a:spcPts val="1600"/>
              </a:spcAft>
              <a:defRPr sz="1600">
                <a:solidFill>
                  <a:srgbClr val="F8FAFC"/>
                </a:solidFill>
              </a:defRPr>
            </a:pPr>
            <a:r>
              <a:t>While additional agents provide specialization and peer review, they also introduce communication overhead, compounding network latency, and increased API costs.</a:t>
            </a:r>
          </a:p>
          <a:p>
            <a:pPr>
              <a:defRPr sz="1600" b="1">
                <a:solidFill>
                  <a:srgbClr val="FBBF24"/>
                </a:solidFill>
              </a:defRPr>
            </a:pPr>
            <a:r>
              <a:t>Currently, there is a lack of rigorous, controlled benchmarks evaluating how coordination topology directly impacts task success, solution quality, latency, and token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PROBLEM &amp;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Paper Foundation: MultiAgentBench (ACL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Authoritative Paper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Title: MultiAgentBench: Evaluating Collaboration &amp; Competition of LLM Agents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Publication: Proceedings of ACL 2025 (Long Papers)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Authors: Kunlun Zhu, Hongyi Du, Zhaochen Hong et al.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Official Code Repository: ulab-uiuc/MARBLE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Core Contribution: Benchmark framework for multi-agent collaboration and competition.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Scope &amp; Adaptation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Our Work: Student-Scale Adapted Research Implementation.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Reproduction Boundary: We adapt core task categories and agent roles.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Experimental Extension: We systematically isolate and compare 5 distinct coordination topologies.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Strict Distinction: Our project is an adapted experimental study inspired by MultiAgentBench.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2. PROBLEM &amp;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Original MARBLE Research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Conceptual Architecture from ACL 2025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Coordination Engine: Manages multi-agent turn-taking and message routing.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Agent Graph (G = (V, E)): Models agents as nodes and communication channels as edges.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Cognitive Module: Handles LLM prompting, role-specific reasoning, and tool invocations.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Memory System: Stores shared environment state, execution history, and inter-agent messages.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Explicit Designation: Labeled as 'Original Research Framework' to distinguish from our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Gap &amp; Proposed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Original Paper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MultiAgentBench focused primarily on game-like environments and macro task benchmarks without systematically isolating topology 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Identified 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Lack of controlled, head-to-head empirical evaluations comparing Single Agent vs Star vs Chain vs Tree vs Graph topologies under identical benchmark tasks.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Our Proposed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Implement a modular multi-topology experimental runner with strict cost guardrails, anti-leakage evaluation, and statistical effect size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Questions (RQ1 – RQ5)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RQ1 (Coordination Benefit): Does multi-agent coordination improve task performance over a single LLM agent?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RQ2 (Topology Specificity): Which coordination topology performs best for different task categories?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RQ3 (Efficiency Trade-off): Does multi-agent collaboration improve quality at the cost of higher latency and API cost?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RQ4 (Task Dependence): Does optimal coordination architecture depend on task characteristics and complexity?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RQ5 (Pareto Efficiency): What is the performance-efficiency Pareto trade-off across topologies?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Hypotheses (H1 – H5)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H1 (Quality Hypothesis): Multi-agent topologies will achieve higher quality scores on complex tasks than a single 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H2 (Hierarchical Superiority): Hierarchical structures (Tree/Star) will outperform linear pipelines (Chain) on complex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H3 (Overhead Scaling): Latency and token consumption will scale non-linearly with agent communication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H4 (Task Shift): Optimal topology choice will shift depending on task difficulty and constraint 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H5 (Efficiency Baseline): Single Agent will remain the most token-efficient approach for straightforward tasks.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3. RESEARCH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Proposed Research Approach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Methodological Workflow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1. Problem Formulation: Identify research gap in topology trade-offs.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2. Student-Scale Benchmark: Standardize 7 task categories with anti-leakage isolation.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3. Multi-Topology Solvers: Implement Single, Star, Chain, Tree, and Graph execution solvers.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4. Provider Abstraction: Support Google Gemini, Groq Cloud, and Mock Provider deterministically.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5. Controlled Execution: Run matrix experiments keeping model, prompts, and settings constant.</a:t>
            </a:r>
          </a:p>
          <a:p>
            <a:pPr>
              <a:spcAft>
                <a:spcPts val="1200"/>
              </a:spcAft>
              <a:defRPr sz="1400">
                <a:solidFill>
                  <a:srgbClr val="F8FAFC"/>
                </a:solidFill>
              </a:defRPr>
            </a:pPr>
            <a:r>
              <a:t>6. Evaluation &amp; Statistics: Measure task score, latency, tokens, cost, and Cohen's d effect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Layered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Layered Software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1 — Presentation: Streamlit Dashboard (🔬 Research Suite &amp; 🎓 Demonstration Suite)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2 — Experiment Control: ExperimentRunner (Pre-flight Preview, Matrix Execution, Immutability)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3 — Coordination Topologies: BaseArchitecture (Single, Star, Chain, Tree, Graph Solvers)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4 — Agent Roles: Role Definitions (Planner, Researcher, Analyst, Critic, Finalizer)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5 — Provider Abstraction: LLMProvider (Google Gemini, Groq, OpenAI, MockProvider)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• Layer 6 — Evaluation &amp; Storage: HybridEvaluator + StatisticalAnalyzer + CSV/JSON Results 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Specialized Agent Roles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Role: Planner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Decomposes complex task prompt into structured sub-tasks and strategy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Role: Researcher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Gathers information, domain context, and technical considerations.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Role: Analyst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Evaluates trade-offs, synthesizes findings, and structures draft 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Role: Critic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Audits draft for constraint violations, logical flaws, and edge cases.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Role: Finalizer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Responsibility: Consolidates all inputs into final, authoritative task response.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4.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Five Evaluated Coordination Topologies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Single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1 Agent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Direct LLM call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44951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1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1 Leader + N Workers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Central coordinator delegates &amp; merges.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1224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Pipeline (N -&gt; N+1)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Sequential stage-by-stage handoff.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97496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6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Hierarchical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Branch delegation &amp; bottom-up aggregate.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463040"/>
            <a:ext cx="20116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73768" y="15544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103120"/>
            <a:ext cx="1828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Structure:</a:t>
            </a:r>
            <a:br/>
            <a:r>
              <a:t>Dynamic Mesh G=(V,E)</a:t>
            </a:r>
            <a:br/>
            <a:endParaRP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Behavior:</a:t>
            </a:r>
            <a:br/>
            <a:r>
              <a:t>Configurable inter-agent communication.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5. BENCHMARK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Student-Scale Benchmark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1. Planning [TASK_PLAN_001]: Design cloud migration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2. Constraint Sat. [TASK_CONST_002]: Allocate resources under strict constraints.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3. Info Synthesis [TASK_SYNTH_003]: Summarize multi-source technical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4. Reasoning [TASK_REASON_004]: Multi-step algorithmic problem solving.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5. Decision Making [TASK_DECISION_005]: Evaluate architecture trade-offs.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006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6. Collaboration [TASK_COLLAB_006]: Joint problem solving across roles.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698480" cy="621792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7. Coding [TASK_CODE_007]: Python algorithm &amp; refactoring task.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5. BENCHMARK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Evaluation Metrics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Performance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Task Success (True/False)</a:t>
            </a:r>
            <a:br/>
            <a:r>
              <a:t>• Task Score (0.0 – 1.0)</a:t>
            </a:r>
            <a:br/>
            <a:r>
              <a:t>• Constraint Satisfaction Rate (0–100%)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Quality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Quality Score (0.0 – 10.0)</a:t>
            </a:r>
            <a:br/>
            <a:r>
              <a:t>• Coordination Score (0.0 – 10.0)</a:t>
            </a:r>
            <a:br/>
            <a:r>
              <a:t>• Evaluator: Objective Regex + LLM Judge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Efficiency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Latency (seconds)</a:t>
            </a:r>
            <a:br/>
            <a:r>
              <a:t>• Total API Calls</a:t>
            </a:r>
            <a:br/>
            <a:r>
              <a:t>• Total Tokens (Input + Output)</a:t>
            </a:r>
            <a:br/>
            <a:r>
              <a:t>• Estimated Cost (USD)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49039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Reliability &amp; Taxonomy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9767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Failure Rate (%)</a:t>
            </a:r>
            <a:br/>
            <a:r>
              <a:t>• MAST Taxonomy: API Failure, Timeout, Rate Limit, Constraint Violation, Agent Loop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6. EXPERIMENTAL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Controlled Experimental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Controlled Experimental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Controlled Independent Variable: Coordination Topology (Single, Star, Chain, Tree, Graph).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Strictly Controlled Factors: Provider (gemini), Model (gemini-3.1-flash-lite), Task Prompts, Temperature (0.7), Max Tokens (1024).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Measured Dependent Variables: Task Score, Quality Score, Latency, Total Calls, Tokens, Estimated Cost, Failure Mode.</a:t>
            </a:r>
          </a:p>
          <a:p>
            <a:pPr>
              <a:spcAft>
                <a:spcPts val="1400"/>
              </a:spcAft>
              <a:defRPr sz="1400">
                <a:solidFill>
                  <a:srgbClr val="F8FAFC"/>
                </a:solidFill>
              </a:defRPr>
            </a:pPr>
            <a:r>
              <a:t>• Repetition &amp; Isolation: Each matrix run evaluates every architecture against all 7 benchmark categories under identical execution parameters.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6. EXPERIMENTAL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Evaluation Pipeline &amp; Benchmark Anti-Leakage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Evaluation Pipeline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1. Task Definition loaded from benchmark JSON.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2. Architecture solver executes agent interaction loop.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3. Final answer submitted to Hybrid Evaluator.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4. Objective constraint checker parses properties.</a:t>
            </a:r>
          </a:p>
          <a:p>
            <a:pPr>
              <a:spcAft>
                <a:spcPts val="1200"/>
              </a:spcAft>
              <a:defRPr sz="1300">
                <a:solidFill>
                  <a:srgbClr val="F8FAFC"/>
                </a:solidFill>
              </a:defRPr>
            </a:pPr>
            <a:r>
              <a:t>5. Quality score and metrics serialized to CSV &amp; JSON.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Strict Anti-Leakage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TaskDefinition.to_agent_prompt_dict(): Strips reference answers &amp; ground-truth keyword sets.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Agent Input Isolation: Agents receive ONLY task_id, category, prompt, and constraints.</a:t>
            </a:r>
          </a:p>
          <a:p>
            <a:pPr>
              <a:spcAft>
                <a:spcPts val="1400"/>
              </a:spcAft>
              <a:defRPr sz="1300">
                <a:solidFill>
                  <a:srgbClr val="F8FAFC"/>
                </a:solidFill>
              </a:defRPr>
            </a:pPr>
            <a:r>
              <a:t>• Evaluator Isolation: Ground-truth reference solutions are visible strictly to the evaluator engine.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7.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Technology Stack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Core Language &amp;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Python 3.13.9 | Windows OS | Object-Oriented Dataclasses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LLM API Providers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Google Generative AI SDK (google-generativeai) | Groq Cloud SDK | OpenAI SDK Abstraction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User Interface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Streamlit 1.42.0 (Dual Suite: Research Suite &amp; Demonstration Suite)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49039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8404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Analytics &amp;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29767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Pandas | NumPy | Pytest (100% Offline Suite) | Graphviz / Mermaid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7.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Streamlit Implementation &amp; GUI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🔬 Research Suite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Executive Dashboard: Key metrics, task completion rates, cost summaries.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Experiment Runner: Pre-flight preview, matrix footprint estimation, cost cap check.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Comparative Analytics: Cross-topology quality, latency, token trade-offs.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Task &amp; Failure Analysis: Failure taxonomy Breakdown (MAST).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• Report Generator: Automated empirical Markdown research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🎓 Demonstration Suite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Seminar Live Demo: Real-time execution visualizer for classroom presentation.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Topology Visualizer: Interactive dynamic structure diagram (Single, Star, Chain, Tree, Graph).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Safe API Connectivity Test: Zero-credit 5-token ping test without exposing credentials.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Batch 3 vs Batch 4: Comparative 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5943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📊 AUTHORITATIVE RESEARCH DATASETS: Cohere Batch 3 (EXP_LIVE_20260813_190111) vs Batch 4 (EXP_LIVE_20260813_201049)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65960"/>
          <a:ext cx="10698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Batch 3 (EXP_LIVE_20260813_190111)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Batch 4 (EXP_LIVE_20260813_201049)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Absolute Change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</a:defRPr>
                      </a:pPr>
                      <a:r>
                        <a:t>Change (%-point)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Total Benchmark Runs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Successful Runs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Failed Runs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Overall Task Success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48.57%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54.29%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+5.71%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+5.71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Average Task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0.7663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0.8086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+0.0423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Constraint Satisfaction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84.29%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92.86%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+8.57%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4D399"/>
                          </a:solidFill>
                        </a:defRPr>
                      </a:pPr>
                      <a:r>
                        <a:t>+8.57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Average Latency per Run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75.44s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92.83s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+17.40s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Average Tokens per Run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25,451.6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27,580.9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+2,129.3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Failure Taxonomy Comparison: Batch 3 vs Batch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7132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Failure Mode 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Batch 3 Count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Batch 3 %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Batch 4 Count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Batch 4 %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Net Change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none (Clean Success)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48.57%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54.29%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+5.71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rate limit (HTTP 429)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14.29%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2.86%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-11.43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API failure (Token Ceiling)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11.43%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8.57%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-2.86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timeout (Socket Timeout)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8.57%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5.71%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-2.86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invalid response (Validation)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17.14%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28.57%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+11.43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agent loop / constraint viol.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0.00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Taxonomy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80% Reduction in Rate Limits: HTTP 429 quota failures dropped from 5 to 1 (-11.43 pp) following the 39 RPM rate-limiter precedence fix.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Reduced API &amp; Socket Timeouts: Token ceiling expansion (8192) and 90s timeout reduced API/timeout failures from 7 to 5.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Primary Failure Shift: Remaining failures shifted to provider-side output formatting validation (HTTP 422 invalid response, +11.43 pp).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Zero Circular Loops: Refined classification confirmed zero infinite agent loops.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Architecture Performance Breakdown: Batch 3 vs Batch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7132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Batch 3 Success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Batch 3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Batch 4 Success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Batch 4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Success Change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Single Agent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0.9143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7/7 (100.0%)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0.8929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0.00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Chain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2/7 (28.57%)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0.4929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4/7 (57.14%)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0.5821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+28.57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Star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2/7 (28.57%)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0.8857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2/7 (28.57%)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0.8857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0.00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Graph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3/7 (42.86%)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0.7657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2/7 (28.57%)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0.8471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BBF24"/>
                          </a:solidFill>
                        </a:defRPr>
                      </a:pPr>
                      <a:r>
                        <a:t>-14.29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</a:defRPr>
                      </a:pPr>
                      <a:r>
                        <a:t>Tree Topology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3/7 (42.86%)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0.7729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4/7 (57.14%)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0.8357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+14.29 pp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Topology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0312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Single Baseline Supremacy: Single Agent achieved 100% success rate across both batches with minimal latency (22.6s) and tokens (4,313).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Chain Topology Doubled: Chain success surged by +28.57 pp (28.6% -&gt; 57.1%) as 8192 token headroom prevented sequential state truncation.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Tree Topology Resilient: Tree achieved 57.1% success (+14.29 pp) with 100% constraint satisfaction (score 0.8357).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Star &amp; Graph Bottlenecks: Star and Graph were constrained by provider message validation checks (HTTP 422).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8.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Empirical Observations &amp; Change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Empirical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1. Reliability &amp; Constraint Growth: Overall Task Success Rate increased from 48.57% to 54.29% (+5.71 pp), while Constraint Satisfaction Rate increased from 84.29% to 92.86% (+8.57 pp).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2. Rate Limit Resolution: HTTP 429 quota failures fell from 5 to 1 (-11.43 pp), confirming the efficacy of 39 RPM rate-limiter precedence refactoring.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3. Token &amp; Latency Expansion: Avg tokens per run increased by +8.37% (25,452 to 27,581) and avg latency by +23.0% (75.4s to 92.8s) due to 8192-token headroom utilization.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Batch 3 -&gt; Batch 4 Change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Chain Topology (+28.57 pp): Success doubled (28.6% -&gt; 57.1%) as expanded output ceiling enabled complete critic &amp; finalizer synthesis.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Tree Topology (+14.29 pp): Success increased from 42.9% to 57.1% with 100% constraint satisfaction, confirming hierarchical resilience.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Star Topology (0.00 pp): Maintained 28.6% success with 100% constraint sat, but 5 runs hit provider validation limits (HTTP 422).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Graph Topology (-14.29 pp): Latency reached 111.6s; token depth (31,037) increased exposure to provider message validation constraints.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9. RESEARCH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Research Implications &amp; Architectural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Architectural Trade-Offs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Single Agent Pareto Efficiency: Single Agent is Pareto-optimal for low-latency, deterministic execution (100% success, 22.6s latency, 4,313 tokens).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Complexity vs Overhead: Multi-agent mesh topologies (STAR, GRAPH) incur 4.7x to 5.6x higher latency (107s–111s) and 7.2x to 8.7x higher token footprint.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Hierarchical Resilience: TREE topology demonstrated superior resilience over linear CHAIN and mesh GRAPH for complex multi-step reasoning tasks.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Methodological &amp; Pipeline Implications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Pipeline Reliability Impact: Provider-level execution fixes (8192 token floor, 90s timeout, 39 RPM throttle) directly improved execution success (+5.71 pp) without altering benchmark tasks or scoring.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Verification vs Validation: Multi-agent review significantly improves constraint adherence (92.86% in Batch 4), but introduces higher exposure to provider-side output format constraints (HTTP 422).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Output Headroom Requirement: Multi-agent nodes require &gt;3,500 reasoning tokens before producing text, necessitating high output token ceilings.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10. 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Limitations &amp; Future Research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Provider API Format Constraints: Cohere V2 Chat API returns HTTP 422 (NO_VALID_RESPONSE_GENERATED) when message inputs trigger Cohere model input safety or validation limits.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Output Token Depth: Multi-agent reasoning requires &gt;3,500 thinking tokens before producing user-visible text, requiring high output token ceilings.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LLM Nondeterminism: Temperature 0.7 introduces minor performance variance across multi-run trials.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Dynamic Adaptive Routing: Dynamically route complex sub-problems to Tree/Chain while assigning simple tasks to Single Agent.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Local Model Execution: Deploy local open-weights LLMs (Ollama / vLLM) for zero-cost, unlimited-token execution.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Heterogeneous Agent Swarms: Combine large 70B coordinators with fast 8B worker models.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10. 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Conclusions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VJTI MCA Technical Seminar 2025–2026 | MultiAgentBench Evaluation | Slide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Core Research 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1. Best Performing Topology: Single Agent achieved 100.0% success rate; TREE achieved highest multi-agent performance (57.1% success, 100% constraint sat, 0.8357 score).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2. Least Reliable Topology: STAR and GRAPH were least reliable (28.57% success) due to message format validation overhead.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3. Reliability Improvement: Batch 4 improved success rate by +5.71 pp and constraint satisfaction by +8.57 pp over Batch 3.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4. Dominant Failure Mode: Provider-side output format validation (HTTP 422 invalid response, 28.57% in Batch 4).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✓ Research Framework &amp; 5 Topology Solvers Fully Operational.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Key Academic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846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1. Zhu et al. 'MultiAgentBench: Evaluating Collaboration and Competition of LLM Agents.' ACL 2025.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2. Wu et al. 'AutoGen: Enabling Next-Gen LLM Applications.' arXiv 2023.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3. Qian et al. 'Communicative Agents for Software Development (ChatDev).' ACL 2024.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4. Hong et al. 'MetaGPT: Meta Programming for A Multi-Agent Framework.' ICLR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3452</Words>
  <Application>Microsoft Office PowerPoint</Application>
  <PresentationFormat>Widescreen</PresentationFormat>
  <Paragraphs>411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Kshitij Kejriwal</cp:lastModifiedBy>
  <cp:revision>1</cp:revision>
  <dcterms:created xsi:type="dcterms:W3CDTF">2013-01-27T09:14:16Z</dcterms:created>
  <dcterms:modified xsi:type="dcterms:W3CDTF">2026-08-13T15:59:30Z</dcterms:modified>
  <cp:category/>
</cp:coreProperties>
</file>