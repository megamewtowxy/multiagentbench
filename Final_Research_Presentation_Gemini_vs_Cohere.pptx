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8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EVALUATING MULTI-AGENT COORDINATION TOPOLOGIES ACROSS LLM PROVIDERS: GEMINI VS COHERE</a:t>
            </a:r>
          </a:p>
          <a:p>
            <a:pPr>
              <a:spcBef>
                <a:spcPts val="1000"/>
              </a:spcBef>
              <a:defRPr sz="1600">
                <a:solidFill>
                  <a:srgbClr val="38BDF8"/>
                </a:solidFill>
              </a:defRPr>
            </a:pPr>
            <a:r>
              <a:t>A Cross-Model Empirical Study on MultiAgentBench (70 Runs / 4 Experimental Batches)</a:t>
            </a:r>
          </a:p>
          <a:p>
            <a:br/>
            <a:pPr>
              <a:spcBef>
                <a:spcPts val="1500"/>
              </a:spcBef>
              <a:defRPr sz="1300">
                <a:solidFill>
                  <a:srgbClr val="94A3B8"/>
                </a:solidFill>
              </a:defRPr>
            </a:pPr>
            <a:r>
              <a:t>Presenter: Kshitij Patil (MCA Candidate)</a:t>
            </a:r>
            <a:br/>
            <a:r>
              <a:t>Department of Computer Applications</a:t>
            </a:r>
            <a:br/>
            <a:r>
              <a:t>Veermata Jijabai Technological Institute (VJTI), Mumbai</a:t>
            </a:r>
            <a:br/>
            <a:r>
              <a:t>Academic Year: 2025–2026</a:t>
            </a:r>
            <a:br/>
            <a:r>
              <a:t>Models Analyzed: Google Gemini 3.1 Flash-Lite &amp; Cohere Command A+ (05-2026)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Core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Core Research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Cross-Model Evaluation: Evaluated 5 multi-agent coordination topologies across 140 live benchmark runs on Google Gemini (70 runs) and Cohere Command A+ (70 runs).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Overall Performance Gap: Gemini achieved 97.14% success (68/70) vs Cohere's 51.43% success (36/70), driven by model-specific output context limits.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Single Agent Baseline Pareto Efficiency: Single Agent achieved 100.0% success across BOTH models, operating as a model-agnostic Pareto baseline.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Hierarchical Resilience: TREE topology proved most resilient under Cohere (50.0% success, 94.6% constraint sat), outperforming mesh topologies.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Empirical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Model-Architecture Interaction: Mesh topologies (STAR/GRAPH) collapsed from 100% success on Gemini to 28.6%/35.7% on Cohere (-71.4 pp / -64.3 pp drop).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Internal CoT Token Expansion: Cohere generated &gt;3,500 reasoning tokens per call, causing 2.3x higher latency (84.1s vs 36.0s) and 2.3x higher token usage.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Reliability Engineering Impact: Provider-level fixes (8192 token floor, 90s timeout, 39 RPM throttle) increased Cohere success by +5.71 pp in Batch 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RESEARCH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Background: Evolution of LLM Execution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Single-Prompt LLMs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Constrained by single context window; unable to perform complex self-correction or multi-step tool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Single Autonomous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Integrate internal reasoning loops (ReAct/CoT), memory, and tool invocation for iterative task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Multi-Agent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Distribute complex problem solving across specialized agent roles (Planner, Analyst, Critic, Finalizer).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RESEARCH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Coordination Overhead vs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Multi-Agent Complexity Paradox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1. Escalating Overhead: Adding agents increases inter-agent communication channels, network latency, and token consumption.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2. Context Compression &amp; Loss: Transmitting state across sequential chains or mesh graphs risks prompt context degradation.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3. Provider Sensitivity: Provider-specific model behavior (e.g. internal reasoning tokens, output ceilings, safety filters) alters topology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Research Void Addressed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Most existing benchmarks evaluate multi-agent frameworks using a single LLM provider (typically OpenAI GPT-4).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There is a lack of rigorous empirical research analyzing how coordination topologies interact with different underlying LLMs.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This study evaluates whether topology performance is model-agnostic or model-dependent across Gemini and Cohere.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Objectives &amp; Formal 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Research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1. Quantify Topology Impact: Measure success rate, task score, constraint satisfaction, latency, and tokens across 5 topologies.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2. Evaluate Provider Sensitivity: Compare Google Gemini 3.1 Flash-Lite against Cohere Command A+ under identical task conditions.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3. Identify Failure Modes: Standardize failure taxonomy (API failures, rate limits, timeouts, invalid responses, constraint violations).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4. Formulate Design Guidelines: Determine Pareto-optimal multi-agent deployment strategies.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Formal Hypotheses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H1 (Topology Superiority): Multi-agent architectures will outperform Single Agent on complex multi-step reasoning tasks.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H2 (Model Interaction): Coordination topology performance is NOT model-agnostic; underlying model characteristics significantly alter topology ranking.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H3 (Constraint Rigor): Multi-agent verification loops will yield higher constraint satisfaction than single-pass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Multi-Agent Coordination Topologies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Single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Single turn ReAct execution; zero inter-agent communication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Chain (Sequential)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Linear pipeline (Planner -&gt; Researcher -&gt; Analyst -&gt; Critic -&gt; Finalizer).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46304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Star (Centralized)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116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Central Coordinator delegates sub-tasks to workers &amp; aggregates solutions.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Graph (Mesh Network)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80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Full peer-to-peer collaboration and cross-verification network.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931920"/>
            <a:ext cx="33832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Tree (Hierarchical)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480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Sub-lead delegation and bottom-up aggregation hierarchy.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Experimental Setup &amp; Task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MultiAgentBench Task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TASK_PLAN_001 (Planning): Complex multi-phase project scheduling.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TASK_CONST_002 (Constraint Sat.): Resource allocation under strict rules.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TASK_SYNTH_003 (Information Synth.): Multi-source document summarization.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TASK_REASON_004 (Multi-step Reason.): Logical deduction &amp; puzzle solving.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TASK_DECISION_005 (Decision Making): Strategic trade-off analysis.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TASK_COLLAB_006 (Collab Problem): Joint multi-agent consensus building.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TASK_CODE_007 (Coding/Problem): Algorithmic synthesis &amp; debugging.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Experimental Execution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Benchmark Scale: 7 Tasks x 5 Architectures = 35 Runs per Batch.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Total Live Runs Analyzed: 140 Executions across 4 Batches.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Gemini Matrix: Batch 1 (35 runs) + Batch 2 (35 runs) = 70 Runs.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Cohere Matrix: Batch 3 (35 runs) + Batch 4 (35 runs) = 70 Runs.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Zero Mock Mode: All runs executed live against official REST endpoints.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Strict Methodology: Prompts, tasks, constraints, and scoring remain 100% immutable across all 140 runs.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Anti-Leakage Evaluation Engine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Hybrid Evaluation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Deterministic Rule Engine: Evaluates exact constraint compliance, required keywords, forbidden phrases, and numerical ranges.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Anti-Leakage Guard: Evaluates final answers strictly; intermediate agent scratchpads are excluded from scoring.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Binary Task Success: Task Success = 1 if Task Score &gt;= 0.5 and Constraint Satisfaction Rate &gt;= 0.5; otherwise 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Standardized Failure Taxonomy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none: Clean execution, valid answer produced.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rate limit: HTTP 429 quota exhaustion.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API failure: Request error or output token ceiling truncation.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timeout: Socket read timeout during generation.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invalid response: Provider model output formatting error (HTTP 422).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agent loop: Exceeded max iteration safety limit.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LLM Provider Specifications: Gemini vs Cohere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Google Gemini 3.1 Flash-Lite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Provider Name: gemini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Model Identifier: gemini-3.1-flash-lite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API Endpoint: Google Generative AI REST V1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Inter-Request Spacing: 1.0s delay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Output Ceiling: 1024 - 4096 tokens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Latency Characteristics: Low latency (avg 36.0s / run)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Token Footprint: Compact (avg 11,431 tokens / run)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Cohere Command A+ (05-2026)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Provider Name: cohere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Model Identifier: command-a-plus-05-2026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API Endpoint: Cohere REST API V2 (/v2/chat)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Rate Limiter Throttle: 39 RPM (1.538s spacing)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Output Ceiling Floor: 8192 max output tokens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Reasoning Mechanism: Emits internal thinking blocks (&gt;3,500 tokens) before text block.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Latency Characteristics: High latency (avg 84.1s / run)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5. GEMINI RESULTS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Gemini Experimental Results (Batches 1 &amp;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🏆 GEMINI OVERALL PERFORMANCE: 97.14% Success Rate (68/70 Runs Successful Across Batches 1 &amp; 2)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6596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Batch 1 Success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Batch 2 Success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Combined Success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Avg Task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Avg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Single 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14/14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0.9386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11.16s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Chain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5/7 (71.4%)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12/14 (85.7%)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0.7071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39.53s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Star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14/14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0.8443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42.92s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Graph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14/14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0.8443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43.34s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Tree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14/14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0.7779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43.10s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5. GEMINI RESULTS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Gemini Failure Log &amp; Topology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Gemini Failure Analysis (2 / 70 Runs Failed)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Failure 1 (Batch 1 - Chain on TASK_SYNTH_003): Classified as 'constraint violation' (Task Score: 0.16). Sequential compression omitted mandatory source metadata keywords.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Failure 2 (Batch 1 - Chain on TASK_DECISION_005): Classified as 'reasoning failure' (Task Score: 0.46). Downstream agent misapplied trade-off evaluation criteria.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Batch 2 Perfect Score: Gemini Batch 2 achieved 100.0% success rate (35/35 runs) after enforcing explicit constraint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Gemini Robustness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High Instruction Adherence: Gemini 3.1 Flash-Lite strictly follows output formatting schemas without triggering client/server validation errors.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Compact Output Generation: Efficiently emits user-visible text without consuming excessive internal CoT tokens.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Perfect Multi-Agent Reliability: Star, Graph, and Tree topologies achieved 100% success across all 28 evaluation runs.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6. COHERE RESULTS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Cohere Experimental Results (Batches 3 &amp;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⚡ COHERE OVERALL PERFORMANCE: 51.43% Success Rate (36/70 Runs Successful Across Batches 3 &amp; 4)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6596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Batch 3 Success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Batch 4 Success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Combined Success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Avg Task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Avg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Single 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4D399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14/14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0.8979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20.23s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Chain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2/7 (28.6%)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BBF24"/>
                          </a:solidFill>
                        </a:defRPr>
                      </a:pPr>
                      <a:r>
                        <a:t>4/7 (57.1%)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6/14 (42.9%)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0.5336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84.06s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Star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2/7 (28.6%)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2/7 (28.6%)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4/14 (28.6%)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0.8871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95.14s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Graph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3/7 (42.9%)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2/7 (28.6%)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5/14 (35.7%)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0.8107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108.86s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Tree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3/7 (42.9%)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BBF24"/>
                          </a:solidFill>
                        </a:defRPr>
                      </a:pPr>
                      <a:r>
                        <a:t>4/7 (57.1%)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7/14 (50.0%)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0.8079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112.38s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6. COHERE RESULTS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Cohere Reliability Engineering &amp; Pipeline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Pipeline Engineering Interventions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1. 8192 Output Token Floor: Expanded request headroom floor from 4096 to 8192 tokens to prevent thinking truncation.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2. 90-Second Socket Timeout: Increased timeout from 30s to 90s to accommodate long multi-agent thinking chains.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3. 39 RPM Limiter Precedence: Implemented per-setting rate limiter precedence, reducing 429 rate limit failures by 80%.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4. Research-Strict Parser: Enforced separation between internal thinking blocks and user-visible text blocks.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Empirical Reliability Gain (Batch 3 -&gt; Batch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Overall Success Gain: Increased from 48.57% (17/35) in Batch 3 to 54.29% (19/35) in Batch 4 (+5.71 pp).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Constraint Satisfaction Gain: Increased from 84.29% in Batch 3 to 92.86% in Batch 4 (+8.57 pp).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Chain Topology Doubled: Chain success surged from 28.6% to 57.1% (+28.57 pp) due to output ceiling expansion.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Tree Topology Surge: Tree success grew from 42.9% to 57.1% (+14.29 pp) with 100% constraint satisfaction.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7. CROSS-MODEL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Cross-Model Comparative Overview (Gemini vs Cohere)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Google Gemini 3.1 Flash-Lite (Batches 1-2)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Cohere Command A+ (Batches 3-4)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Comparative Difference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Total Evaluated Benchmark Runs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Successful Runs (none)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7185"/>
                          </a:solidFill>
                        </a:defRPr>
                      </a:pPr>
                      <a:r>
                        <a:t>-32 runs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Overall Task Success Rate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97.14%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51.43%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7185"/>
                          </a:solidFill>
                        </a:defRPr>
                      </a:pPr>
                      <a:r>
                        <a:t>-45.71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Average Task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0.8224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0.7874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7185"/>
                          </a:solidFill>
                        </a:defRPr>
                      </a:pPr>
                      <a:r>
                        <a:t>-0.0350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 Satisfaction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86.79%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88.57%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+1.78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Average Latency per Run (sec)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36.01s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84.13s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7185"/>
                          </a:solidFill>
                        </a:defRPr>
                      </a:pPr>
                      <a:r>
                        <a:t>+48.12s (2.3x)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Average Tokens per Run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11,431.2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26,516.3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7185"/>
                          </a:solidFill>
                        </a:defRPr>
                      </a:pPr>
                      <a:r>
                        <a:t>+15,085.1 (2.3x)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Total Tokens Consumed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800,186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1,856,140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+1,055,954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7. CROSS-MODEL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Architecture × Model Performance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Gemini Success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Gemini Avg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Cohere Success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Cohere Avg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Success Difference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Single 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14/14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0.9386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14/14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0.8979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0.00 pp (Model Agnostic)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Chain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12/14 (85.71%)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0.7071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6/14 (42.86%)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0.5336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7185"/>
                          </a:solidFill>
                        </a:defRPr>
                      </a:pPr>
                      <a:r>
                        <a:t>-42.86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Star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14/14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0.8443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4/14 (28.57%)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0.8871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7185"/>
                          </a:solidFill>
                        </a:defRPr>
                      </a:pPr>
                      <a:r>
                        <a:t>-71.43 pp (High Sensitivity)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Graph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14/14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0.8443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5/14 (35.71%)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0.8107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7185"/>
                          </a:solidFill>
                        </a:defRPr>
                      </a:pPr>
                      <a:r>
                        <a:t>-64.29 pp (High Sensitivity)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Tree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14/14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0.7779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7/14 (50.00%)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0.8079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7185"/>
                          </a:solidFill>
                        </a:defRPr>
                      </a:pPr>
                      <a:r>
                        <a:t>-50.00 pp (Most Resilient)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7. CROSS-MODEL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Failure Taxonomy Comparison Across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6620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Failure Mode 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Gemini Batches (70 Runs)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Cohere Batches (70 Runs)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Primary Underlying Root Cause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Impact Assessment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none (Clean Success)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68 (97.14%)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36 (51.43%)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Successful task completion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Gemini +45.71 pp higher success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invalid response (HTTP 422)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0 (0.00%)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16 (22.86%)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Cohere V2 output format validation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Dominant Cohere failure mode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API failure (Token Trunc.)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0 (0.00%)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7 (10.00%)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Thinking block exhausted max_tokens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Mitigated by 8192 floor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rate limit (HTTP 429)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0 (0.00%)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6 (8.57%)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Provider API quota throttling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Reduced 80% in Batch 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timeout (Socket Read Timeout)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0 (0.00%)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5 (7.14%)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Internal reasoning generation &gt; 60s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Mitigated by 90s timeout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 violation / reasoning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2 (2.86%)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0 (0.00%)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Sequential state omitted keywords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</a:defRPr>
                      </a:pPr>
                      <a:r>
                        <a:t>Extremely low across both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Critical Analysis: Model Effect vs Architecture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Model Effect (Provider Dominance)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Macro Reliability Gap: The overall success rate difference between Gemini (97.14%) and Cohere (51.43%) represents a +45.71 pp Model Effect.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Model Reasoning Architecture: Cohere emits internal thinking blocks before generating output text, altering token accounting and latency.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Formatting Constraint Sensitivity: Cohere V2 strictly enforces message schema rules (HTTP 422), whereas Gemini accepts diverse multi-agent prompts cleanly.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Model x Architecture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Non-Linear Ranking Shift: Topology ranking changes dramatically across models! Under Gemini, STAR/GRAPH/TREE tied at 100%. Under Cohere, TREE (50.0%) and CHAIN (42.9%) outperformed STAR/GRAPH (28.6%/35.7%).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Mesh Topology Vulnerability: Centralized Star and Mesh Graph topologies are highly sensitive to provider format constraints.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Hierarchical Robustness: Tree topology provides structural isolation that protects intermediate nodes from total context collapse.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Single Agent Baseline: Model Agnosticism &amp; Pareto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Model Agnosticism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Perfect 100% Reliability: Single Agent achieved 14/14 successful runs on Gemini (100.0%) and 14/14 successful runs on Cohere (100.0%).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High Task Quality: Average Task Score reached 0.9386 on Gemini and 0.8979 on Cohere.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Zero Multi-Agent Overhead: Eliminates inter-agent message passing, context accumulation, and network call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Pareto Efficiency Frontier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Lowest Latency: Single Agent requires 11.2s on Gemini and 20.2s on Cohere (4.1x–5.6x faster than multi-agent topologies).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Token Efficiency: Consumes only 3,830–4,313 tokens per run (6.5x–8.7x more token-efficient than multi-agent networks).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Engineering Implication: Single Agent represents the Pareto-optimal choice for standard industrial benchmarks where single-pass LLM capacity is sufficient.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Sequential (Chain) Topology: State Truncation &amp; Token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Sequential Chain Dynamics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Single-Point Vulnerability: Linear pipeline (Planner -&gt; Researcher -&gt; Analyst -&gt; Critic -&gt; Finalizer) propagates intermediate errors downstream.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Gemini Performance (85.7%): Gemini successfully passed state across pipeline stages, failing only on Synth/Decision tasks due to keyword omission.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Cohere Performance (42.9%): Cohere experienced severe truncation under 4096 tokens, but recovered to 57.1% success in Batch 4 after expanding to 8192 token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State Compression Trade-Off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Lowest Multi-Agent Latency: Chain is the fastest multi-agent topology (39.5s on Gemini, 84.1s on Cohere).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Task Score Constraint: Achieved lowest average task score (0.7071 on Gemini, 0.5336 on Cohere) due to lossy intermediate text compression.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Takeaway: Chain provides moderate speed but lower precision compared to parallel verification networks.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Mesh Topologies (Star &amp; Graph): Provider Format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Star &amp; Graph Capabilities (Gemini: 100%)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Perfect Execution on Gemini: Star and Graph achieved 100.0% success rate (14/14 each) with high task scores (0.8443).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Consensus &amp; Verification: Centralized Star coordinator and mesh Graph cross-verification effectively resolved complex constraints.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High Quality Answers: Produced thorough reasoning outputs across planning, decision-making, and collaboration benchmarks.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Format Bottlenecks (Cohere: 28.6% / 35.7%)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Severe Reliability Drop: Star collapsed to 28.57% and Graph to 35.71% success under Cohere.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Provider Format Vulnerability: Transmitting large accumulated prompt transcripts across peer networks triggered Cohere HTTP 422 invalid response formatting errors.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High Token &amp; Latency Overhead: Graph consumed 31,037–34,242 tokens/run and 108.9s latency per run.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Hierarchical Tree Topology: Multi-Agent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Tree Topology Structural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Top Multi-Agent Performer on Cohere: Tree achieved 50.0% overall success (7/14) and 57.1% in Batch 4, outperforming Chain, Star, and Graph.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High Constraint Satisfaction: Achieved 94.64% constraint satisfaction on Cohere and 84.82% on Gemini.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Sub-Lead Isolation: Branch leads isolate worker sub-tasks, preventing full prompt context pollution and reducing HTTP 422 format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Resource Footprint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Highest Token Consumption: Consumes 31,631–37,036 tokens per run on Cohere and 11,500 tokens on Gemini.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Highest Execution Latency: Average latency reached 112.4s on Cohere and 43.1s on Gemini.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Design Recommendation: Tree is the recommended multi-agent topology when multi-agent collaboration is required for complex tasks.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Token Consumption &amp; Latency Scaling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Token Usage Scaling (2.3x Gap)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Gemini Efficiency: Total 70-run Gemini evaluation consumed 800,186 tokens (avg 11,431.2 tokens/run).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Cohere Reasoning Expansion: Total 70-run Cohere evaluation consumed 1,856,140 tokens (avg 26,516.3 tokens/run).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Internal CoT Impact: Cohere emitted &gt;3,500 internal thinking tokens per call, expanding total token usage by 2.3x for identical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Latency Scaling Footprint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Gemini Latency: Average latency per run was 36.01s (Single Agent 11.2s, Multi-Agent 39.5s–43.3s).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Cohere Latency: Average latency per run reached 84.13s (Single Agent 20.2s, Multi-Agent 84.1s–112.4s).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Overhead Multiple: Multi-agent execution incurs 3.8x to 5.6x higher latency compared to Single Agent across both providers.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9. OBSERVATIONS &amp;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Synthesis of Core Empirical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Major Empirical Findings Across All 140 Live Benchmark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1. Provider Dominance (+45.71 pp Success Gap): Google Gemini achieved 97.14% success vs Cohere's 51.43% success on identical benchmark tasks.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2. Single Agent Model-Agnostic Pareto Baseline: Single Agent achieved 100.0% success across BOTH providers with lowest latency and cost.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3. Topology Non-Linearity: Star and Graph achieved 100% success on Gemini but collapsed to 28.6%/35.7% on Cohere due to format sensitivity.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4. Tree Topology Multi-Agent Superiority: Tree proved to be the most resilient multi-agent architecture under model constraints (50.0% success, 94.6% constraint sat).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5. Reliability Engineering Impact: Provider-level execution fixes (8192 token floor, 90s timeout, 39 RPM throttle) increased Cohere success from 48.57% to 54.29%.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9. OBSERVATIONS &amp;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Theoretical &amp; Practical System Design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Theoretical Research Implications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Rejection of Universal Topology Superiority: Results challenge the assumption that a single multi-agent topology is universally optimal across all LLMs.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Model-Topology Co-Design: Multi-agent coordination architectures MUST be co-designed with the underlying LLM provider's token accounting and validation characteristics.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Verification vs Formatting Risk: Multi-agent review enhances constraint adherence, but increases exposure to provider message formatting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Practical Engineering Guidelines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1. Default to Single Agent Baseline: Use Single Agent for deterministic, budget-constrained production workflows.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2. Select Tree for Complex Collaboration: Deploy Tree topology when multi-agent verification is required for complex tasks.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3. Configure High Output Ceilings: Ensure output token ceilings exceed &gt;8192 tokens when deploying models with internal CoT reasoning.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4. Enforce Provider Rate Precedence: Implement client-side rate throttling matching provider quotas.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10.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Threats to Validity &amp; Experimental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Experimental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Provider Scope (2 LLMs): Evaluated Google Gemini 3.1 Flash-Lite and Cohere Command A+; future work should include OpenAI GPT-4o and Anthropic Claude.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Provider-Side API Formatting: Cohere V2 returns HTTP 422 when prompt context shapes trigger input safety/format filters.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Benchmark Sample Scale: 140 total runs across 7 task categories provide tight operational bounds, but statistical significance requires larger 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Mitigation &amp; Validity Guards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Immutable Benchmark Tasks: Task prompts, constraints, and scoring rules remained 100% fixed across all 140 runs.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Deterministic Rule Evaluator: Rule-based keyword and numerical verification eliminated subjective evaluator bias.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Full Data Transparency: All raw JSON execution logs, metadata, and summary CSVs are preserved for full reproducibility.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10.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Future Research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Architectural Research Extensions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Dynamic Adaptive Routing: Develop meta-controllers that dynamically route complex tasks to Tree topology and simple tasks to Single Agent.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Heterogeneous Swarms: Combine large frontier models (e.g. 70B coordinators) with compact worker models (e.g. 8B execution nodes).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Local LLM Execution: Benchmark open-weights LLMs (Llama-3, DeepSeek) using local vLLM infrastructure to eliminate provider API ceilings.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Methodological Extensions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Expanded LLM Matrix: Evaluate OpenAI GPT-4o, Anthropic Claude 3.5 Sonnet, and DeepSeek-V3 under identical multi-agent topologies.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Statistical Power Expansion: Expand benchmark sample size to N &gt;= 10 trials per cell for paired Wilcoxon signed-rank significance testing.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Automated Prompt Optimization: Integrate DSPy prompt compilation to optimize intermediate agent state compression.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10.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Final Synthesis &amp; Core Research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Definitive Project Findings (140 Live Benchmark Runs)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1. Answer to Core Research Question: Multi-agent architecture performance is NOT independent of the underlying LLM provider. Model selection dictates overall reliability (Gemini 97.14% vs Cohere 51.43%) and alters multi-agent topology rankings.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2. Single Agent Baseline Model Agnosticism: Single Agent achieved 100.0% success across BOTH models, establishing it as the most cost-effective and reliable baseline.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3. Hierarchical Multi-Agent Superiority: TREE topology demonstrated superior resilience across both providers (100% on Gemini, 50% on Cohere), outperforming linear CHAIN and mesh STAR/GRAPH.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4. Provider Reliability Engineering: Infrastructure optimizations (8192 token floor, 90s timeout, 39 RPM throttle) directly improved execution success (+5.71 pp) without altering benchmark methodology.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Research Framework, 5 Solvers, Evaluator Engine, and Streamlit GUI Fully Operational.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10.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Academic References &amp; Acknowledgments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(Gemini vs Cohere) | Slide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Acknowledgments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Institution: Veermata Jijabai Technological Institute (VJTI), Mumbai.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Department: Department of Computer Applications (MCA Program).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Project: MCA Technical Seminar 2025–2026.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Author: Kshitij Patil (MCA Candidate).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Faculty Guidance: Seminar Coordinator &amp; Department Faculty.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Academic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1. Zhu et al. 'MultiAgentBench: Evaluating Collaboration and Competition of LLM Agents.' ACL 2025.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2. Wu et al. 'AutoGen: Enabling Next-Gen LLM Applications with Multi-Agent Conversation.' arXiv 2023.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3. Qian et al. 'Communicative Agents for Software Development (ChatDev).' ACL 2024.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4. Hong et al. 'MetaGPT: Meta Programming for A Multi-Agent Collaborative Framework.' ICLR 2024.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5. Yao et al. 'ReAct: Synergizing Reasoning and Acting in Language Models.' ICLR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