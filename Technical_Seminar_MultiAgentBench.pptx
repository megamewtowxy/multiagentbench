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hitij Kejriwal" userId="1174f1dbf53aa3ba" providerId="LiveId" clId="{965B4C64-8A30-4A8E-989E-058A40A90358}"/>
    <pc:docChg chg="modSld">
      <pc:chgData name="Kshitij Kejriwal" userId="1174f1dbf53aa3ba" providerId="LiveId" clId="{965B4C64-8A30-4A8E-989E-058A40A90358}" dt="2026-08-13T09:11:15.387" v="3" actId="20577"/>
      <pc:docMkLst>
        <pc:docMk/>
      </pc:docMkLst>
      <pc:sldChg chg="modSp mod">
        <pc:chgData name="Kshitij Kejriwal" userId="1174f1dbf53aa3ba" providerId="LiveId" clId="{965B4C64-8A30-4A8E-989E-058A40A90358}" dt="2026-08-13T09:09:40.708" v="1" actId="20577"/>
        <pc:sldMkLst>
          <pc:docMk/>
          <pc:sldMk cId="0" sldId="256"/>
        </pc:sldMkLst>
        <pc:spChg chg="mod">
          <ac:chgData name="Kshitij Kejriwal" userId="1174f1dbf53aa3ba" providerId="LiveId" clId="{965B4C64-8A30-4A8E-989E-058A40A90358}" dt="2026-08-13T09:09:40.708" v="1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Kshitij Kejriwal" userId="1174f1dbf53aa3ba" providerId="LiveId" clId="{965B4C64-8A30-4A8E-989E-058A40A90358}" dt="2026-08-13T09:11:15.387" v="3" actId="20577"/>
        <pc:sldMkLst>
          <pc:docMk/>
          <pc:sldMk cId="0" sldId="264"/>
        </pc:sldMkLst>
        <pc:spChg chg="mod">
          <ac:chgData name="Kshitij Kejriwal" userId="1174f1dbf53aa3ba" providerId="LiveId" clId="{965B4C64-8A30-4A8E-989E-058A40A90358}" dt="2026-08-13T09:11:15.387" v="3" actId="20577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rPr dirty="0"/>
              <a:t>EVALUATING MULTI-AGENT COORDINATION STRATEGIES FOR LLM-BASED TASK SOLVING</a:t>
            </a:r>
          </a:p>
          <a:p>
            <a:pPr>
              <a:spcBef>
                <a:spcPts val="1000"/>
              </a:spcBef>
              <a:defRPr sz="1800">
                <a:solidFill>
                  <a:srgbClr val="38BDF8"/>
                </a:solidFill>
              </a:defRPr>
            </a:pPr>
            <a:r>
              <a:rPr dirty="0"/>
              <a:t>MCA Technical Seminar Presentation</a:t>
            </a:r>
          </a:p>
          <a:p>
            <a:br>
              <a:rPr dirty="0"/>
            </a:br>
            <a:r>
              <a:rPr dirty="0"/>
              <a:t>Presenter: Kshitij Patil (MCA Candidate)</a:t>
            </a:r>
            <a:br>
              <a:rPr dirty="0"/>
            </a:br>
            <a:r>
              <a:rPr dirty="0"/>
              <a:t>Department of Computer Applications</a:t>
            </a:r>
            <a:br>
              <a:rPr dirty="0"/>
            </a:br>
            <a:r>
              <a:rPr dirty="0" err="1"/>
              <a:t>Veermata</a:t>
            </a:r>
            <a:r>
              <a:rPr dirty="0"/>
              <a:t> Jijabai Technological Institute (VJTI), Mumbai</a:t>
            </a:r>
            <a:br>
              <a:rPr dirty="0"/>
            </a:br>
            <a:r>
              <a:rPr dirty="0"/>
              <a:t>Academic Year: 2025–202</a:t>
            </a:r>
            <a:r>
              <a:rPr lang="en-US" dirty="0"/>
              <a:t>7</a:t>
            </a:r>
            <a:br>
              <a:rPr dirty="0"/>
            </a:br>
            <a:r>
              <a:rPr dirty="0"/>
              <a:t>Faculty Guide / Seminar Coordinator: MCA Department Faculty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Introduction: Evolution of LLM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From Single Prompt to Agentic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Single-turn LLMs are constrained by single context windows.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LLM Agents introduce autonomous reasoning, tool use, and multi-step execution loops.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Multi-Agent Systems decompose complex tasks across specialized agent roles.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Collective Intelligence: Multiple agents collaborate, critique, and synthesize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Core Coordination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Adding more agents increases communication links and token usage.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Hierarchical vs Sequential vs Mesh topologies exhibit different bottleneck profiles.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Goal: Scientifically quantify how coordination architecture impacts task score, latency, and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Motivation: The Multi-Agent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Specialization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Decomposing complex tasks into distinct roles (Planner, Analyst, Critic, Finalizer) improves thoroughness.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Verification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Multi-agent review catches errors that single-pass LLM calls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Overhead &amp; Token Explosion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Every message passing step consumes API tokens and adds network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Central 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"Does adding more agents actually improve task solving, or does it primarily add latency and cost?"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Research 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</a:defRPr>
            </a:pPr>
            <a:r>
              <a:t>Different multi-agent systems employ diverse communication topologies (Single, Star, Chain, Tree, Graph).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</a:defRPr>
            </a:pPr>
            <a:r>
              <a:t>While additional agents provide specialization and peer review, they also introduce communication overhead, compounding network latency, and increased API costs.</a:t>
            </a:r>
          </a:p>
          <a:p>
            <a:pPr>
              <a:defRPr sz="1600" b="1">
                <a:solidFill>
                  <a:srgbClr val="FBBF24"/>
                </a:solidFill>
              </a:defRPr>
            </a:pPr>
            <a:r>
              <a:t>Currently, there is a lack of rigorous, controlled benchmarks evaluating how coordination topology directly impacts task success, solution quality, latency, and token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Paper Foundation: MultiAgentBench (ACL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Authoritative Paper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Title: MultiAgentBench: Evaluating Collaboration &amp; Competition of LLM Agents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Publication: Proceedings of ACL 2025 (Long Papers)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Authors: Kunlun Zhu, Hongyi Du, Zhaochen Hong et al.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Official Code Repository: ulab-uiuc/MARBLE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Core Contribution: Benchmark framework for multi-agent collaboration and competition.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Scope &amp; Adaptation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Our Work: Student-Scale Adapted Research Implementation.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Reproduction Boundary: We adapt core task categories and agent roles.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Experimental Extension: We systematically isolate and compare 5 distinct coordination topologies.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Strict Distinction: Our project is an adapted experimental study inspired by MultiAgentBench.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Original MARBLE Research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Conceptual Architecture from ACL 2025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Coordination Engine: Manages multi-agent turn-taking and message routing.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Agent Graph (G = (V, E)): Models agents as nodes and communication channels as edges.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Cognitive Module: Handles LLM prompting, role-specific reasoning, and tool invocations.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Memory System: Stores shared environment state, execution history, and inter-agent messages.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Explicit Designation: Labeled as 'Original Research Framework' to distinguish from our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Gap &amp; Proposed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Original Paper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MultiAgentBench focused primarily on game-like environments and macro task benchmarks without systematically isolating topology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Identified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Lack of controlled, head-to-head empirical evaluations comparing Single Agent vs Star vs Chain vs Tree vs Graph topologies under identical benchmark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Our Proposed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Implement a modular multi-topology experimental runner with strict cost guardrails, anti-leakage evaluation, and statistical effect size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Questions (RQ1 – RQ5)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RQ1 (Coordination Benefit): Does multi-agent coordination improve task performance over a single LLM agent?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RQ2 (Topology Specificity): Which coordination topology performs best for different task categories?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RQ3 (Efficiency Trade-off): Does multi-agent collaboration improve quality at the cost of higher latency and API cost?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RQ4 (Task Dependence): Does optimal coordination architecture depend on task characteristics and complexity?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RQ5 (Pareto Efficiency): What is the performance-efficiency Pareto trade-off across topologies?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Hypotheses (H1 – H5)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390844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rPr dirty="0"/>
              <a:t>VJTI MCA Technical Seminar 2025–202</a:t>
            </a:r>
            <a:r>
              <a:rPr lang="en-US" dirty="0"/>
              <a:t>7</a:t>
            </a:r>
            <a:r>
              <a:rPr dirty="0"/>
              <a:t> | </a:t>
            </a:r>
            <a:r>
              <a:rPr dirty="0" err="1"/>
              <a:t>MultiAgentBench</a:t>
            </a:r>
            <a:r>
              <a:rPr dirty="0"/>
              <a:t> Evaluation |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H1 (Quality Hypothesis): Multi-agent topologies will achieve higher quality scores on complex tasks than a single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H2 (Hierarchical Superiority): Hierarchical structures (Tree/Star) will outperform linear pipelines (Chain) on complex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H3 (Overhead Scaling): Latency and token consumption will scale non-linearly with agent communication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H4 (Task Shift): Optimal topology choice will shift depending on task difficulty and constraint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H5 (Efficiency Baseline): Single Agent will remain the most token-efficient approach for straightforward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Research Approach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Methodological Workflow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1. Problem Formulation: Identify research gap in topology trade-offs.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2. Student-Scale Benchmark: Standardize 7 task categories with anti-leakage isolation.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3. Multi-Topology Solvers: Implement Single, Star, Chain, Tree, and Graph execution solvers.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4. Provider Abstraction: Support Google Gemini, Groq Cloud, and Mock Provider deterministically.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5. Controlled Execution: Run matrix experiments keeping model, prompts, and settings constant.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6. Evaluation &amp; Statistics: Measure task score, latency, tokens, cost, and Cohen's d effect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Layered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Layered Software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1 — Presentation: Streamlit Dashboard (🔬 Research Suite &amp; 🎓 Demonstration Suite)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2 — Experiment Control: ExperimentRunner (Pre-flight Preview, Matrix Execution, Immutability)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3 — Coordination Topologies: BaseArchitecture (Single, Star, Chain, Tree, Graph Solvers)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4 — Agent Roles: Role Definitions (Planner, Researcher, Analyst, Critic, Finalizer)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5 — Provider Abstraction: LLMProvider (Google Gemini, Groq, OpenAI, MockProvider)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6 — Evaluation &amp; Storage: HybridEvaluator + StatisticalAnalyzer + CSV/JSON Results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Specialized Agent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Role: Planner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Decomposes complex task prompt into structured sub-tasks and strategy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Role: Researcher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Gathers information, domain context, and technical considerations.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Role: Analyst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Evaluates trade-offs, synthesizes findings, and structures draft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Role: Critic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Audits draft for constraint violations, logical flaws, and edge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Role: Finalizer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Consolidates all inputs into final, authoritative task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Five Evaluated Coordination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Single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1 Agent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Direct LLM call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1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1 Leader + N Workers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Central coordinator delegates &amp; merges.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Pipeline (N -&gt; N+1)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Sequential stage-by-stage handoff.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7496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Hierarchical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Branch delegation &amp; bottom-up aggregate.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8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Dynamic Mesh G=(V,E)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Configurable inter-agent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BENCHMARK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Student-Scale Benchmark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Planning [TASK_PLAN_001]: Design cloud migration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2. Constraint Sat. [TASK_CONST_002]: Allocate resources under strict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3. Info Synthesis [TASK_SYNTH_003]: Summarize multi-source technical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4. Reasoning [TASK_REASON_004]: Multi-step algorithmic problem solving.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5. Decision Making [TASK_DECISION_005]: Evaluate architecture trade-offs.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6. Collaboration [TASK_COLLAB_006]: Joint problem solving across roles.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7. Coding [TASK_CODE_007]: Python algorithm &amp; refactoring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BENCHMARK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Evaluation Metrics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Performance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Task Success (True/False)</a:t>
            </a:r>
            <a:br/>
            <a:r>
              <a:t>• Task Score (0.0 – 1.0)</a:t>
            </a:r>
            <a:br/>
            <a:r>
              <a:t>• Constraint Satisfaction Rate (0–100%)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Quality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Quality Score (0.0 – 10.0)</a:t>
            </a:r>
            <a:br/>
            <a:r>
              <a:t>• Coordination Score (0.0 – 10.0)</a:t>
            </a:r>
            <a:br/>
            <a:r>
              <a:t>• Evaluator: Objective Regex + LLM Judge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Efficiency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Latency (seconds)</a:t>
            </a:r>
            <a:br/>
            <a:r>
              <a:t>• Total API Calls</a:t>
            </a:r>
            <a:br/>
            <a:r>
              <a:t>• Total Tokens (Input + Output)</a:t>
            </a:r>
            <a:br/>
            <a:r>
              <a:t>• Estimated Cost (USD)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Reliability &amp;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Failure Rate (%)</a:t>
            </a:r>
            <a:br/>
            <a:r>
              <a:t>• MAST Taxonomy: API Failure, Timeout, Rate Limit, Constraint Violation, Agent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Controlled Experimental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Controlled Experimental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Controlled Independent Variable: Coordination Topology (Single, Star, Chain, Tree, Graph).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Strictly Controlled Factors: Provider (gemini), Model (gemini-3.1-flash-lite), Task Prompts, Temperature (0.7), Max Tokens (1024).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Measured Dependent Variables: Task Score, Quality Score, Latency, Total Calls, Tokens, Estimated Cost, Failure Mode.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Repetition &amp; Isolation: Each matrix run evaluates every architecture against all 7 benchmark categories under identical execution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Evaluation Pipeline &amp; Benchmark Anti-Leakage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Evaluation Pipeline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1. Task Definition loaded from benchmark JSON.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2. Architecture solver executes agent interaction loop.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3. Final answer submitted to Hybrid Evaluator.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4. Objective constraint checker parses properties.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5. Quality score and metrics serialized to CSV &amp; 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Strict Anti-Leakage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TaskDefinition.to_agent_prompt_dict(): Strips reference answers &amp; ground-truth keyword sets.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Agent Input Isolation: Agents receive ONLY task_id, category, prompt, and constraints.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Evaluator Isolation: Ground-truth reference solutions are visible strictly to the evaluator engine.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Language &amp;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Python 3.13.9 | Windows OS | Object-Oriented Dataclasses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LLM API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Google Generative AI SDK (google-generativeai) | Groq Cloud SDK | OpenAI SDK Abstraction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User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Streamlit 1.42.0 (Dual Suite: Research Suite &amp; Demonstration Suite)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Analytics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Pandas | NumPy | Pytest (100% Offline Suite) | Graphviz / Mermaid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Streamlit Implementation &amp; GUI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🔬 Research Suite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Executive Dashboard: Key metrics, task completion rates, cost summaries.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Experiment Runner: Pre-flight preview, matrix footprint estimation, cost cap check.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Comparative Analytics: Cross-topology quality, latency, token trade-offs.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Task &amp; Failure Analysis: Failure taxonomy Breakdown (MAST).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Report Generator: Automated empirical Markdown research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🎓 Demonstration Suite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Seminar Live Demo: Real-time execution visualizer for classroom presentation.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Topology Visualizer: Interactive dynamic structure diagram (Single, Star, Chain, Tree, Graph).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Safe API Connectivity Test: Zero-credit 5-token ping test without exposing credentials.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PILOT EXPERIMENT — PRELIMINARY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⚠️ PRELIMINARY RESULTS — NOT FINAL RESEARCH RESULTS (Authorized Pilot Dataset: EXP_LIVE_20260813_140712)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Task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Calls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Cost ($)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Chain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0.6914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6.914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42.07s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11555.4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$0.001733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Graph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8.000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47.30s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13843.1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$0.002076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Single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0.9429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9.429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6.37s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1121.6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$0.000168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0.8329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8.329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43.61s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17174.1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$0.002576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0.7571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7.571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51.66s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12789.3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$0.001918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Pilot Observations &amp; Empirical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Pilot Findings (EXP_LIVE_20260813_140712)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Baseline Efficiency: Single Agent achieved highest average task score (0.9429) at lowest latency (6.32s) and tokens (1,121.6).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Overhead Scaling: Multi-agent topologies incurred 6.7x to 7.5x higher latency (42.2s–47.4s) and 10.3x to 15.3x higher token usage.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Topology Robustness: Star, Tree, and Graph achieved 100% success rate on the pilot suite.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Preliminary Indication: Multi-agent coordination introduces overhead that must be justified by task complexity.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Methodological Note: These pilot observations provide initial patterns requiring validation in the final controlled experiment.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Pilot Failure Analysis (EXP_LIVE_20260813_140712)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Empirical Failure Log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Chain Topology on TASK_SYNTH_003 (Information Synthesis): Classified as 'constraint violation' (Task Score: 0.16, Quality: 1.6). Reason: Sequential compression omitted required source metadata constraints.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Chain Topology on TASK_DECISION_005 (Decision Making): Classified as 'reasoning failure' (Task Score: 0.46, Quality: 4.6). Reason: Downstream agent misapplied trade-off criteria from preceding stage.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Architectural Vulnerability: Linear pipeline (Chain) topologies exhibit single-point vulnerability where errors propagate down the chain.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Star, Tree, Graph Integrity: Zero failures recorded for Star, Tree, and Graph topologies in this pilot run.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9. FUTURE EXPERIMENTAL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Final Controlled Experiment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Roadmap to Final Research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1. Pilot Validation Completed: Verified live API execution pipeline, data persistence, and evaluation engine.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2. Final Controlled Experiment: Expand trial count per cell (N &gt;= 5 repetitions per task-topology pair) for statistical power.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3. Multi-Provider Comparison: Execute controlled comparative runs across Google Gemini and Groq Cloud.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4. Controlled Execution Protocol: Enforce identical generation parameters, staggered call delays, and cost limits.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5. Final Data Derivatives: Populate definitive findings and thesis conclusions following controlled execution.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9. FUTURE EXPERIMENTAL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Statistical Analysis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Statistical Testing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Descriptive Stats: Mean, Median, Std Dev, 95% Confidence Intervals.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Paired Methodology: Because architectures evaluate identical tasks, Paired Wilcoxon Signed-Rank Tests are required.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Effect Size: Cohen's d vs Single Agent Baseline.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Sample Size Requirement: Minimum N &gt;= 5 repetitions per cell for parametric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Final Statistical Placeholders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FINAL STATISTICAL ANALYSIS:</a:t>
            </a:r>
          </a:p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[TO BE POPULATED AFTER FINAL CONTROLLED EXPERIMENT]</a:t>
            </a:r>
          </a:p>
          <a:p>
            <a:br/>
            <a:r>
              <a:t>FINAL HYPOTHESIS TESTING RESULTS:</a:t>
            </a:r>
          </a:p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[TO BE POPULATED AFTER FINAL CONTROLLED EXPERIMENT]</a:t>
            </a:r>
          </a:p>
          <a:p>
            <a:br/>
            <a:r>
              <a:t>FINAL PARETO FRONTIER:</a:t>
            </a:r>
          </a:p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[TO BE POPULATED AFTER FINAL CONTROLLED EXPERIMENT]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API Rate &amp; Quota Limits: Free-tier daily token limits constrain matrix trial count.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LLM Nondeterminism: Output variability requires multiple runs for tight confidence bounds.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Student-Scale Benchmark: Focused on 7 representative categories rather than exhaustive industrial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Dynamic Adaptive Routing: Dynamically adjust topology based on real-time task difficulty.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Local Model Execution: Integrate local LLMs (Ollama / vLLM) for zero-cost execution.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Heterogeneous Agent Swarms: Mix different model sizes (e.g. 70B coordinator + 8B workers).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Current Status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Current Project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Research framework &amp; 5 topology solvers implemented.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Benchmark suite &amp; anti-leakage evaluator operational.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Streamlit dual-suite GUI fully functional.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Authoritative live pilot experiment completed (EXP_LIVE_20260813_140712).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⏳ Final controlled experiment &amp; thesis synthesis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Academic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1. Zhu et al. 'MultiAgentBench: Evaluating Collaboration and Competition of LLM Agents.' ACL 2025.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2. Wu et al. 'AutoGen: Enabling Next-Gen LLM Applications.' arXiv 2023.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3. Qian et al. 'Communicative Agents for Software Development (ChatDev).' ACL 2024.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4. Hong et al. 'MetaGPT: Meta Programming for A Multi-Agent Framework.' ICLR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2981</Words>
  <Application>Microsoft Office PowerPoint</Application>
  <PresentationFormat>Widescreen</PresentationFormat>
  <Paragraphs>337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Kshitij Kejriwal</cp:lastModifiedBy>
  <cp:revision>1</cp:revision>
  <dcterms:created xsi:type="dcterms:W3CDTF">2013-01-27T09:14:16Z</dcterms:created>
  <dcterms:modified xsi:type="dcterms:W3CDTF">2026-08-13T09:11:27Z</dcterms:modified>
  <cp:category/>
</cp:coreProperties>
</file>